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63" r:id="rId3"/>
    <p:sldId id="262" r:id="rId4"/>
    <p:sldId id="259" r:id="rId5"/>
    <p:sldId id="264" r:id="rId6"/>
    <p:sldId id="265" r:id="rId7"/>
    <p:sldId id="257" r:id="rId8"/>
    <p:sldId id="271" r:id="rId9"/>
    <p:sldId id="267" r:id="rId10"/>
    <p:sldId id="269" r:id="rId11"/>
    <p:sldId id="268" r:id="rId12"/>
    <p:sldId id="26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9121DCA-6C31-414F-B5E4-DCF0E081A30C}">
          <p14:sldIdLst>
            <p14:sldId id="256"/>
            <p14:sldId id="263"/>
            <p14:sldId id="262"/>
            <p14:sldId id="259"/>
            <p14:sldId id="264"/>
            <p14:sldId id="265"/>
            <p14:sldId id="257"/>
            <p14:sldId id="271"/>
            <p14:sldId id="267"/>
            <p14:sldId id="269"/>
            <p14:sldId id="268"/>
            <p14:sldId id="26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13:36:07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13:36:33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13:36:51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2DECC-9CCE-49F1-B980-89BA18B59CD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6C0FA-1D57-4C27-9C8E-36A08C16B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58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6C0FA-1D57-4C27-9C8E-36A08C16B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896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3909-57B0-AA99-E5DD-B803A5A24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F5160-617B-85F7-86ED-0B5D4CF97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1962B-848D-C7A0-AF87-6BDFC1D84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17C04-71C8-37E3-99E2-CF49B2067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6C0FA-1D57-4C27-9C8E-36A08C16B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07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3670-6B7B-6AEA-0F9E-61CEED2FB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4093B-88AB-CDAD-12F9-0C7499617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1EBE9-467A-298D-62DB-7B8B9427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DBC4B-E2D3-F582-79E1-81392EFB6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4D42E-61CB-F895-9137-A89958F5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04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D9B1-D1B3-B162-E54B-B196EA25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FED7-BA7B-2EE5-2B09-818836582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266BC-712A-9C5C-8AB0-4E014846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9BB9B-228A-23BE-DB3E-DE764338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C3B1B-6FEE-DE01-F9B6-46C34631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47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FA7C-001F-C9C4-2DB1-9E61CC396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5F844-1196-F4FB-B6A2-8FECE58F3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10FE2-59D9-83F5-DE30-386FF09F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F3B40-0209-9D8B-61AB-C5891987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3C4D8-8AD3-D5CE-59E7-E342437A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86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4047-3EBD-749E-7E2A-C07C172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38914-9FBE-4EB9-67BD-713526720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5B32A-55FE-588F-1A4C-3FCA88B51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C3C49-2379-C69D-1037-F22CD674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2C139-BF4A-8DE9-F9C6-90FC3A05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66278-5D88-8D35-B3A5-DEC91AA0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74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D5DE-A570-3B1A-69FA-12BBBEC3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BC9AF-B3C6-A0D1-E06C-704FFEDA1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99E66-65A1-DE4E-779C-60FFD477F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97470-6F8E-3E85-37E7-2456C1F69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56165C-3741-3825-D68F-F0342378E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FC2E1D-A8A9-1510-CB83-E15A0D41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2C60F-234C-7A5E-88D2-5DF31A8D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51EB0-CF63-00B6-FB0C-C115A467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20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E3BD-DA66-2CE2-2C27-2ADB20D6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52BF4-064D-5490-5C1F-DE6B93AC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8E056-1D85-2636-975E-97EA3022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9FF40-3B07-E7DB-F9C0-20C2B5F3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0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53177-B0D6-BF84-C581-E34A8BB6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BA5DE-3AF6-D1C4-1716-99429129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09935-D2C1-EC99-68BE-D9E4FD5E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0A5F-C640-A2F8-648F-9A30A13B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E629-6F81-C635-ADC7-368BB24B2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89F40-4DAA-B9CD-FB82-CB5DB83D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4BCA6-E952-7B97-9ABA-CFAD0034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FCF28-FEFA-0CAF-2314-498BC884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9C370-465B-89D3-5B7B-619C5565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22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A8D2-F4F6-6F9F-555B-43FF4DC1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D8296-8F22-756E-D573-9BFEC7CE6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EB3E2-E012-99C4-2D53-0DD2FB7E5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A420C-32A0-40B8-83BE-19471C2B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5FF3C-4385-B4E6-AD9E-C9AF61B74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6829D-6E10-C880-5A57-3CC2F621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06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D5520-32E9-932E-2DAD-D30E23FE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A8B6E-C56D-AA5C-9FD9-13E43091C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CC70B-D16F-29BF-BEC0-7C265CBE9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51731-57B8-C26B-484E-39E3181C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43F7E-159E-F79D-BFAB-40C896FF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5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E0E3ED-BF7B-A611-1EAB-4B50BEA63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5BE92-3272-0F68-CCB0-3FB057C90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5351A-D848-D04E-64EA-40C4E504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6EF1D-BE68-B022-8D9B-13BCB4A7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CE5E7-F3AC-31DE-9218-0C2AB6E6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62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E4EB00-47BA-5537-0129-FB696F7F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6991A-9DEA-2B58-CBA3-CDEB178E5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1C4C1-C6B6-C2D6-6DEA-D448DC856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D22D3-7966-44C5-8763-20F165BAB9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6388B-FEFF-DDF9-834C-9EC68C81C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D1147-40D9-B798-2DBD-62C275108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7F3B0-FEC0-43DF-B91F-CC10F7642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67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2F82A8B-67F6-2C2C-8F73-6165C1F109E0}"/>
              </a:ext>
            </a:extLst>
          </p:cNvPr>
          <p:cNvGrpSpPr/>
          <p:nvPr/>
        </p:nvGrpSpPr>
        <p:grpSpPr>
          <a:xfrm>
            <a:off x="7083706" y="0"/>
            <a:ext cx="5855714" cy="7375552"/>
            <a:chOff x="8002930" y="0"/>
            <a:chExt cx="4937566" cy="6710435"/>
          </a:xfrm>
          <a:blipFill>
            <a:blip r:embed="rId2"/>
            <a:stretch>
              <a:fillRect/>
            </a:stretch>
          </a:blipFill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B920D5D9-D10B-1DB3-25FB-53FC47862E89}"/>
                </a:ext>
              </a:extLst>
            </p:cNvPr>
            <p:cNvSpPr/>
            <p:nvPr/>
          </p:nvSpPr>
          <p:spPr>
            <a:xfrm>
              <a:off x="11563109" y="0"/>
              <a:ext cx="1377387" cy="1527858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98601E3C-FAB1-D37B-E455-3B5CBE6CFF63}"/>
                </a:ext>
              </a:extLst>
            </p:cNvPr>
            <p:cNvSpPr/>
            <p:nvPr/>
          </p:nvSpPr>
          <p:spPr>
            <a:xfrm>
              <a:off x="11563108" y="1764181"/>
              <a:ext cx="1377387" cy="1524961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0F70BC0C-A959-C3BF-5693-57118913DD99}"/>
                </a:ext>
              </a:extLst>
            </p:cNvPr>
            <p:cNvSpPr/>
            <p:nvPr/>
          </p:nvSpPr>
          <p:spPr>
            <a:xfrm>
              <a:off x="11563108" y="3421293"/>
              <a:ext cx="1377387" cy="1524961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BF3A3DB2-F30F-A80C-1E67-C4E41E744BEA}"/>
                </a:ext>
              </a:extLst>
            </p:cNvPr>
            <p:cNvSpPr/>
            <p:nvPr/>
          </p:nvSpPr>
          <p:spPr>
            <a:xfrm>
              <a:off x="11563109" y="0"/>
              <a:ext cx="1377387" cy="163203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C1E720CC-A172-C060-4E0C-281BA1C54B1A}"/>
                </a:ext>
              </a:extLst>
            </p:cNvPr>
            <p:cNvSpPr/>
            <p:nvPr/>
          </p:nvSpPr>
          <p:spPr>
            <a:xfrm>
              <a:off x="10419144" y="894631"/>
              <a:ext cx="1377387" cy="1527858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8907C337-8BC1-6C7C-764C-0DC3CBF3D3D4}"/>
                </a:ext>
              </a:extLst>
            </p:cNvPr>
            <p:cNvSpPr/>
            <p:nvPr/>
          </p:nvSpPr>
          <p:spPr>
            <a:xfrm>
              <a:off x="10419143" y="2658812"/>
              <a:ext cx="1377387" cy="1524961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EC539B9B-89AF-AB83-F5FA-DCBEF382EB10}"/>
                </a:ext>
              </a:extLst>
            </p:cNvPr>
            <p:cNvSpPr/>
            <p:nvPr/>
          </p:nvSpPr>
          <p:spPr>
            <a:xfrm>
              <a:off x="10419143" y="4315924"/>
              <a:ext cx="1377387" cy="1524961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C3F1F625-00EA-8F20-DE12-FC035E613EC3}"/>
                </a:ext>
              </a:extLst>
            </p:cNvPr>
            <p:cNvSpPr/>
            <p:nvPr/>
          </p:nvSpPr>
          <p:spPr>
            <a:xfrm>
              <a:off x="9269393" y="1764181"/>
              <a:ext cx="1377387" cy="1527858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9B37D448-AC1E-C651-8C58-EAC933AF0E8E}"/>
                </a:ext>
              </a:extLst>
            </p:cNvPr>
            <p:cNvSpPr/>
            <p:nvPr/>
          </p:nvSpPr>
          <p:spPr>
            <a:xfrm>
              <a:off x="9269392" y="3528362"/>
              <a:ext cx="1377387" cy="1524961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6B47BABA-AF48-A818-90C9-0B4982F579E8}"/>
                </a:ext>
              </a:extLst>
            </p:cNvPr>
            <p:cNvSpPr/>
            <p:nvPr/>
          </p:nvSpPr>
          <p:spPr>
            <a:xfrm>
              <a:off x="9269392" y="5185474"/>
              <a:ext cx="1377387" cy="1524961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120BC42C-F9C8-97D9-6B78-EB4D168D002E}"/>
                </a:ext>
              </a:extLst>
            </p:cNvPr>
            <p:cNvSpPr/>
            <p:nvPr/>
          </p:nvSpPr>
          <p:spPr>
            <a:xfrm>
              <a:off x="8002931" y="2658812"/>
              <a:ext cx="1377387" cy="1527858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87A39074-551A-B8EB-F14F-E1F8914B04AA}"/>
                </a:ext>
              </a:extLst>
            </p:cNvPr>
            <p:cNvSpPr/>
            <p:nvPr/>
          </p:nvSpPr>
          <p:spPr>
            <a:xfrm>
              <a:off x="8002930" y="4422993"/>
              <a:ext cx="1377387" cy="1524961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6B5F3DDD-52DD-B389-FD4B-A80A94261730}"/>
                </a:ext>
              </a:extLst>
            </p:cNvPr>
            <p:cNvSpPr/>
            <p:nvPr/>
          </p:nvSpPr>
          <p:spPr>
            <a:xfrm>
              <a:off x="8002931" y="2658812"/>
              <a:ext cx="1377387" cy="1632030"/>
            </a:xfrm>
            <a:prstGeom prst="hexago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6" name="Title 25">
            <a:extLst>
              <a:ext uri="{FF2B5EF4-FFF2-40B4-BE49-F238E27FC236}">
                <a16:creationId xmlns:a16="http://schemas.microsoft.com/office/drawing/2014/main" id="{F1C52E1D-2753-0759-1678-688B1B5AB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1830669"/>
            <a:ext cx="6213987" cy="1679294"/>
          </a:xfrm>
        </p:spPr>
        <p:txBody>
          <a:bodyPr>
            <a:normAutofit fontScale="90000"/>
          </a:bodyPr>
          <a:lstStyle/>
          <a:p>
            <a:r>
              <a:rPr lang="en-US" sz="6600" b="1" dirty="0"/>
              <a:t>AUTOMATED TELLER                        MACHINE(ATM)</a:t>
            </a:r>
            <a:endParaRPr lang="en-IN" sz="6600" b="1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653A00E-A262-2024-D6A5-85735DF4F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0812" y="3962400"/>
            <a:ext cx="3950571" cy="2895600"/>
          </a:xfrm>
        </p:spPr>
        <p:txBody>
          <a:bodyPr>
            <a:normAutofit/>
          </a:bodyPr>
          <a:lstStyle/>
          <a:p>
            <a:r>
              <a:rPr lang="en-US" dirty="0"/>
              <a:t>     PRESENTED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JAHNAVI(25A31A05BW)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VANDANA(25A31A05CA)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TEJASWINI(25A3105CL)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SIVA(25A3105DE)</a:t>
            </a:r>
          </a:p>
          <a:p>
            <a:r>
              <a:rPr lang="en-US" dirty="0"/>
              <a:t>               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40268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D880B7-A5EA-2495-3AFC-09D0E9AFB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68"/>
            <a:ext cx="12192000" cy="6847532"/>
          </a:xfrm>
          <a:prstGeom prst="rect">
            <a:avLst/>
          </a:prstGeom>
          <a:gradFill>
            <a:gsLst>
              <a:gs pos="54000">
                <a:schemeClr val="accent4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5400000" scaled="1"/>
          </a:gra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4094F-B3A1-6450-F284-0A7C455BA36F}"/>
              </a:ext>
            </a:extLst>
          </p:cNvPr>
          <p:cNvSpPr txBox="1"/>
          <p:nvPr/>
        </p:nvSpPr>
        <p:spPr>
          <a:xfrm>
            <a:off x="1002890" y="629264"/>
            <a:ext cx="814110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4800" dirty="0">
                <a:solidFill>
                  <a:schemeClr val="bg1"/>
                </a:solidFill>
              </a:rPr>
              <a:t> </a:t>
            </a:r>
            <a:r>
              <a:rPr lang="en-IN" sz="4800" b="1" dirty="0">
                <a:solidFill>
                  <a:schemeClr val="bg1"/>
                </a:solidFill>
              </a:rPr>
              <a:t>Content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Abstract</a:t>
            </a:r>
          </a:p>
          <a:p>
            <a:r>
              <a:rPr lang="en-IN" sz="3200" dirty="0">
                <a:solidFill>
                  <a:schemeClr val="bg1"/>
                </a:solidFill>
              </a:rPr>
              <a:t>2. Introduction</a:t>
            </a:r>
          </a:p>
          <a:p>
            <a:r>
              <a:rPr lang="en-IN" sz="3200" dirty="0">
                <a:solidFill>
                  <a:schemeClr val="bg1"/>
                </a:solidFill>
              </a:rPr>
              <a:t>3. Applications</a:t>
            </a:r>
          </a:p>
          <a:p>
            <a:r>
              <a:rPr lang="en-IN" sz="2800" dirty="0">
                <a:solidFill>
                  <a:schemeClr val="bg1"/>
                </a:solidFill>
              </a:rPr>
              <a:t>4. Existing Methodology</a:t>
            </a:r>
          </a:p>
          <a:p>
            <a:r>
              <a:rPr lang="en-IN" sz="2800" dirty="0">
                <a:solidFill>
                  <a:schemeClr val="bg1"/>
                </a:solidFill>
              </a:rPr>
              <a:t>5. Drawbacks of Existing System</a:t>
            </a:r>
          </a:p>
          <a:p>
            <a:r>
              <a:rPr lang="en-IN" sz="2800" dirty="0">
                <a:solidFill>
                  <a:schemeClr val="bg1"/>
                </a:solidFill>
              </a:rPr>
              <a:t>6. Proposed Methodology</a:t>
            </a:r>
          </a:p>
          <a:p>
            <a:r>
              <a:rPr lang="en-IN" sz="2800" dirty="0">
                <a:solidFill>
                  <a:schemeClr val="bg1"/>
                </a:solidFill>
              </a:rPr>
              <a:t>7. Advantages of Proposed Method</a:t>
            </a:r>
          </a:p>
          <a:p>
            <a:r>
              <a:rPr lang="en-IN" sz="2800" dirty="0">
                <a:solidFill>
                  <a:schemeClr val="bg1"/>
                </a:solidFill>
              </a:rPr>
              <a:t>8. Architecture</a:t>
            </a:r>
          </a:p>
          <a:p>
            <a:r>
              <a:rPr lang="en-IN" sz="2800" dirty="0">
                <a:solidFill>
                  <a:schemeClr val="bg1"/>
                </a:solidFill>
              </a:rPr>
              <a:t>9. Results / Screenshots</a:t>
            </a:r>
          </a:p>
          <a:p>
            <a:r>
              <a:rPr lang="en-IN" sz="2800" dirty="0">
                <a:solidFill>
                  <a:schemeClr val="bg1"/>
                </a:solidFill>
              </a:rPr>
              <a:t>10. Conclusion</a:t>
            </a:r>
          </a:p>
          <a:p>
            <a:r>
              <a:rPr lang="en-IN" sz="2800" dirty="0">
                <a:solidFill>
                  <a:schemeClr val="bg1"/>
                </a:solidFill>
              </a:rPr>
              <a:t>11. Queries</a:t>
            </a:r>
          </a:p>
        </p:txBody>
      </p:sp>
    </p:spTree>
    <p:extLst>
      <p:ext uri="{BB962C8B-B14F-4D97-AF65-F5344CB8AC3E}">
        <p14:creationId xmlns:p14="http://schemas.microsoft.com/office/powerpoint/2010/main" val="1306510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5000">
              <a:schemeClr val="accent2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38000">
              <a:schemeClr val="accent2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64DF1A-0082-815C-A012-4C5E69865E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" y="-2459"/>
            <a:ext cx="12187634" cy="686045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47BBCC-B5AE-0F5D-342E-1ED5A2F3CC48}"/>
              </a:ext>
            </a:extLst>
          </p:cNvPr>
          <p:cNvSpPr txBox="1"/>
          <p:nvPr/>
        </p:nvSpPr>
        <p:spPr>
          <a:xfrm>
            <a:off x="531574" y="2451841"/>
            <a:ext cx="1202421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4800" b="1" dirty="0">
                <a:solidFill>
                  <a:schemeClr val="bg1"/>
                </a:solidFill>
              </a:rPr>
              <a:t>Abstract (ATM Machine Project)</a:t>
            </a:r>
          </a:p>
          <a:p>
            <a:r>
              <a:rPr lang="en-IN" sz="2800" dirty="0">
                <a:solidFill>
                  <a:schemeClr val="bg1"/>
                </a:solidFill>
              </a:rPr>
              <a:t>An Automated Teller Machine (ATM) is a self-service banking device that allows         users to withdraw cash, check balance, and perform basic transactions using a debit card and PIN. This project explains how an ATM works, its components, transaction flow, and how it improves banking convenience by providing fast and secure services 24×7.</a:t>
            </a:r>
          </a:p>
        </p:txBody>
      </p:sp>
    </p:spTree>
    <p:extLst>
      <p:ext uri="{BB962C8B-B14F-4D97-AF65-F5344CB8AC3E}">
        <p14:creationId xmlns:p14="http://schemas.microsoft.com/office/powerpoint/2010/main" val="28045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9000">
              <a:schemeClr val="accent2">
                <a:lumMod val="75000"/>
              </a:schemeClr>
            </a:gs>
            <a:gs pos="53000">
              <a:schemeClr val="accent1">
                <a:lumMod val="45000"/>
                <a:lumOff val="55000"/>
              </a:schemeClr>
            </a:gs>
            <a:gs pos="10000">
              <a:schemeClr val="tx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AF59-BBF9-889C-0DBA-ADE84FF7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0" y="228600"/>
            <a:ext cx="8963659" cy="1295400"/>
          </a:xfrm>
          <a:noFill/>
        </p:spPr>
        <p:txBody>
          <a:bodyPr>
            <a:normAutofit/>
          </a:bodyPr>
          <a:lstStyle/>
          <a:p>
            <a:r>
              <a:rPr lang="en-US" sz="4400" b="1" dirty="0"/>
              <a:t>    INTRODUCTION OF ATM MACHINE</a:t>
            </a:r>
            <a:endParaRPr lang="en-IN" sz="4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022B3B-DEC8-E8B7-63C8-F03FBFD03C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1588"/>
            <a:ext cx="12324480" cy="6929588"/>
          </a:xfrm>
          <a:prstGeom prst="rect">
            <a:avLst/>
          </a:prstGeom>
          <a:gradFill>
            <a:gsLst>
              <a:gs pos="43363">
                <a:srgbClr val="B6958C"/>
              </a:gs>
              <a:gs pos="53000">
                <a:schemeClr val="accent2">
                  <a:lumMod val="20000"/>
                  <a:lumOff val="80000"/>
                </a:schemeClr>
              </a:gs>
              <a:gs pos="10000">
                <a:schemeClr val="bg1">
                  <a:lumMod val="95000"/>
                </a:schemeClr>
              </a:gs>
            </a:gsLst>
            <a:lin ang="5400000" scaled="1"/>
          </a:gradFill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4200D-5329-1D88-33A2-4A0B85381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1602658"/>
            <a:ext cx="10794947" cy="437535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WHAT IS ATM MACHINE?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ATM stands for </a:t>
            </a:r>
            <a:r>
              <a:rPr lang="en-US" sz="2800" b="1" dirty="0">
                <a:solidFill>
                  <a:schemeClr val="bg1"/>
                </a:solidFill>
              </a:rPr>
              <a:t>Automated Teller Machine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 Electronic device used for </a:t>
            </a:r>
            <a:r>
              <a:rPr lang="en-US" sz="2800" b="1" dirty="0">
                <a:solidFill>
                  <a:schemeClr val="bg1"/>
                </a:solidFill>
              </a:rPr>
              <a:t>cash withdrawal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 Allows </a:t>
            </a:r>
            <a:r>
              <a:rPr lang="en-US" sz="2800" b="1" dirty="0">
                <a:solidFill>
                  <a:schemeClr val="bg1"/>
                </a:solidFill>
              </a:rPr>
              <a:t>basic banking services</a:t>
            </a:r>
            <a:r>
              <a:rPr lang="en-US" sz="2800" dirty="0">
                <a:solidFill>
                  <a:schemeClr val="bg1"/>
                </a:solidFill>
              </a:rPr>
              <a:t> without a bank staff Provides </a:t>
            </a:r>
            <a:r>
              <a:rPr lang="en-US" sz="2800" b="1" dirty="0">
                <a:solidFill>
                  <a:schemeClr val="bg1"/>
                </a:solidFill>
              </a:rPr>
              <a:t>quick, easy, and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         24/7 access</a:t>
            </a:r>
            <a:r>
              <a:rPr lang="en-US" sz="2800" dirty="0">
                <a:solidFill>
                  <a:schemeClr val="bg1"/>
                </a:solidFill>
              </a:rPr>
              <a:t> to money Found in banks, malls, and public places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812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tx1">
                <a:lumMod val="85000"/>
                <a:lumOff val="15000"/>
              </a:schemeClr>
            </a:gs>
            <a:gs pos="24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F69B6F-4A4B-8681-FD5C-B11E333CD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A46479-D5B1-394A-4C0E-A51D9CA9CC4B}"/>
              </a:ext>
            </a:extLst>
          </p:cNvPr>
          <p:cNvSpPr txBox="1"/>
          <p:nvPr/>
        </p:nvSpPr>
        <p:spPr>
          <a:xfrm>
            <a:off x="717756" y="393290"/>
            <a:ext cx="898668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5400" b="1" dirty="0">
                <a:solidFill>
                  <a:schemeClr val="bg1"/>
                </a:solidFill>
              </a:rPr>
              <a:t>Applications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Cash withdrawal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Balance enquiry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Mini statement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PIN change service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Fund transfers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Cash deposit (in deposit ATMs)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Provides banking access in remote locations</a:t>
            </a:r>
          </a:p>
        </p:txBody>
      </p:sp>
    </p:spTree>
    <p:extLst>
      <p:ext uri="{BB962C8B-B14F-4D97-AF65-F5344CB8AC3E}">
        <p14:creationId xmlns:p14="http://schemas.microsoft.com/office/powerpoint/2010/main" val="17642837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rgbClr val="FF0000"/>
            </a:gs>
            <a:gs pos="63000">
              <a:schemeClr val="accent3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2CE176-76B2-391E-F5ED-C20D5FB0C1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2D2C13-93E4-1234-5DEA-8D806ED70792}"/>
              </a:ext>
            </a:extLst>
          </p:cNvPr>
          <p:cNvSpPr txBox="1"/>
          <p:nvPr/>
        </p:nvSpPr>
        <p:spPr>
          <a:xfrm>
            <a:off x="1125415" y="984739"/>
            <a:ext cx="801858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4800" b="1" dirty="0">
                <a:solidFill>
                  <a:schemeClr val="bg1"/>
                </a:solidFill>
              </a:rPr>
              <a:t>Existing Methodology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Before ATMs, customers needed to: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Visit the bank branch physically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Fill withdrawal or deposit forms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Wait in long queues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Depend on working hours of the bank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Use passbooks for balance checking</a:t>
            </a:r>
          </a:p>
          <a:p>
            <a:r>
              <a:rPr lang="en-IN" sz="3200" dirty="0">
                <a:solidFill>
                  <a:schemeClr val="bg1"/>
                </a:solidFill>
              </a:rPr>
              <a:t>This manual system was slow, time-consuming, and required more human </a:t>
            </a:r>
            <a:r>
              <a:rPr lang="en-IN" sz="3200" dirty="0">
                <a:solidFill>
                  <a:schemeClr val="bg1">
                    <a:lumMod val="95000"/>
                  </a:schemeClr>
                </a:solidFill>
              </a:rPr>
              <a:t>effort.</a:t>
            </a:r>
          </a:p>
        </p:txBody>
      </p:sp>
    </p:spTree>
    <p:extLst>
      <p:ext uri="{BB962C8B-B14F-4D97-AF65-F5344CB8AC3E}">
        <p14:creationId xmlns:p14="http://schemas.microsoft.com/office/powerpoint/2010/main" val="314289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tx1">
                <a:lumMod val="95000"/>
                <a:lumOff val="5000"/>
              </a:schemeClr>
            </a:gs>
            <a:gs pos="20000">
              <a:schemeClr val="tx1">
                <a:lumMod val="95000"/>
                <a:lumOff val="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1CF9CE9-E070-D432-DE4A-5E21295DF4A7}"/>
              </a:ext>
            </a:extLst>
          </p:cNvPr>
          <p:cNvSpPr txBox="1"/>
          <p:nvPr/>
        </p:nvSpPr>
        <p:spPr>
          <a:xfrm>
            <a:off x="554477" y="3429000"/>
            <a:ext cx="8531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3DBF24D-6FB9-490C-E6D4-8A0ACFED47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5071" y="1337551"/>
            <a:ext cx="10086152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4000" b="1" dirty="0">
                <a:solidFill>
                  <a:schemeClr val="bg1"/>
                </a:solidFill>
                <a:latin typeface="Arial"/>
                <a:cs typeface="Arial"/>
              </a:rPr>
              <a:t>Drawbacks of Existing Methodology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Arial"/>
                <a:cs typeface="Arial"/>
              </a:rPr>
              <a:t>Limited to bank working hours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Arial"/>
                <a:cs typeface="Arial"/>
              </a:rPr>
              <a:t>More manual paperwork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Arial"/>
                <a:cs typeface="Arial"/>
              </a:rPr>
              <a:t>Long queues and waiting time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Arial"/>
                <a:cs typeface="Arial"/>
              </a:rPr>
              <a:t>High dependency on bank staff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Arial"/>
                <a:cs typeface="Arial"/>
              </a:rPr>
              <a:t>No access to instant cash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Arial"/>
                <a:cs typeface="Arial"/>
              </a:rPr>
              <a:t>Slow and inconvenient for users Option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AF3D69-71BF-AACA-7104-06543ADD7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3771" cy="6858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EFFED5-6E69-6967-2C75-C829105407EC}"/>
              </a:ext>
            </a:extLst>
          </p:cNvPr>
          <p:cNvSpPr txBox="1"/>
          <p:nvPr/>
        </p:nvSpPr>
        <p:spPr>
          <a:xfrm>
            <a:off x="3048001" y="3716593"/>
            <a:ext cx="5938684" cy="15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49CCD-C5CE-B2DF-3D7B-A98AC393C885}"/>
              </a:ext>
            </a:extLst>
          </p:cNvPr>
          <p:cNvSpPr txBox="1"/>
          <p:nvPr/>
        </p:nvSpPr>
        <p:spPr>
          <a:xfrm>
            <a:off x="3200401" y="3868993"/>
            <a:ext cx="5938684" cy="15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F31431-53CF-6244-7BD5-737E979D0032}"/>
              </a:ext>
            </a:extLst>
          </p:cNvPr>
          <p:cNvSpPr txBox="1"/>
          <p:nvPr/>
        </p:nvSpPr>
        <p:spPr>
          <a:xfrm>
            <a:off x="3352801" y="4021393"/>
            <a:ext cx="5938684" cy="15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9C0BE-D310-6E2C-BAC7-5A7F48DB4DAF}"/>
              </a:ext>
            </a:extLst>
          </p:cNvPr>
          <p:cNvSpPr txBox="1"/>
          <p:nvPr/>
        </p:nvSpPr>
        <p:spPr>
          <a:xfrm>
            <a:off x="943897" y="1051858"/>
            <a:ext cx="1059338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4800" dirty="0">
                <a:solidFill>
                  <a:schemeClr val="bg1"/>
                </a:solidFill>
              </a:rPr>
              <a:t>Drawbacks of Existing Methodology</a:t>
            </a:r>
            <a:endParaRPr lang="en-IN" sz="44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Limited to bank working hours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More manual paperwork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Long queues and waiting time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High dependency on bank staff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No access to instant cash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Slow and inconvenient for users</a:t>
            </a:r>
          </a:p>
        </p:txBody>
      </p:sp>
    </p:spTree>
    <p:extLst>
      <p:ext uri="{BB962C8B-B14F-4D97-AF65-F5344CB8AC3E}">
        <p14:creationId xmlns:p14="http://schemas.microsoft.com/office/powerpoint/2010/main" val="311399125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tx1">
                <a:lumMod val="95000"/>
                <a:lumOff val="5000"/>
              </a:schemeClr>
            </a:gs>
            <a:gs pos="20000">
              <a:schemeClr val="tx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E55A5-7283-E548-1EEF-CFFB1C22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CC9ADF7-33BF-5A4F-A7E3-FE6EF1F436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8" y="0"/>
            <a:ext cx="12095544" cy="6858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9A317B-F6F1-1415-25CF-3FAFA89AA096}"/>
              </a:ext>
            </a:extLst>
          </p:cNvPr>
          <p:cNvSpPr txBox="1"/>
          <p:nvPr/>
        </p:nvSpPr>
        <p:spPr>
          <a:xfrm>
            <a:off x="554477" y="3429000"/>
            <a:ext cx="8531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0DCB6E-C487-EBAD-D8D8-2B9412387C97}"/>
              </a:ext>
            </a:extLst>
          </p:cNvPr>
          <p:cNvSpPr txBox="1"/>
          <p:nvPr/>
        </p:nvSpPr>
        <p:spPr>
          <a:xfrm>
            <a:off x="-570270" y="2111299"/>
            <a:ext cx="5938684" cy="15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2537B-FACB-F423-F7B5-6992CAE67A69}"/>
              </a:ext>
            </a:extLst>
          </p:cNvPr>
          <p:cNvSpPr txBox="1"/>
          <p:nvPr/>
        </p:nvSpPr>
        <p:spPr>
          <a:xfrm>
            <a:off x="3200401" y="3868993"/>
            <a:ext cx="5938684" cy="15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EA5EB9-974C-1893-B5E4-62BFC9E01134}"/>
              </a:ext>
            </a:extLst>
          </p:cNvPr>
          <p:cNvSpPr txBox="1"/>
          <p:nvPr/>
        </p:nvSpPr>
        <p:spPr>
          <a:xfrm>
            <a:off x="3352801" y="4021393"/>
            <a:ext cx="5938684" cy="15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61B85-4B69-E23D-A544-1FB403739BBA}"/>
              </a:ext>
            </a:extLst>
          </p:cNvPr>
          <p:cNvSpPr txBox="1"/>
          <p:nvPr/>
        </p:nvSpPr>
        <p:spPr>
          <a:xfrm>
            <a:off x="344129" y="835741"/>
            <a:ext cx="12182168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400" b="1" dirty="0">
                <a:solidFill>
                  <a:schemeClr val="bg1"/>
                </a:solidFill>
              </a:rPr>
              <a:t>Proposed Methodology </a:t>
            </a:r>
          </a:p>
          <a:p>
            <a:pPr marL="342900" indent="-342900"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User inserts the ATM card.</a:t>
            </a:r>
          </a:p>
          <a:p>
            <a:pPr marL="342900" indent="-342900">
              <a:buAutoNum type="arabicPeriod" startAt="2"/>
            </a:pPr>
            <a:r>
              <a:rPr lang="en-IN" sz="3200" dirty="0">
                <a:solidFill>
                  <a:schemeClr val="bg1"/>
                </a:solidFill>
              </a:rPr>
              <a:t>System reads card details.</a:t>
            </a:r>
          </a:p>
          <a:p>
            <a:r>
              <a:rPr lang="en-IN" sz="3200" dirty="0">
                <a:solidFill>
                  <a:schemeClr val="bg1"/>
                </a:solidFill>
              </a:rPr>
              <a:t>3. User enters the PIN.</a:t>
            </a:r>
          </a:p>
          <a:p>
            <a:pPr marL="342900" indent="-342900">
              <a:buAutoNum type="arabicPeriod" startAt="4"/>
            </a:pPr>
            <a:r>
              <a:rPr lang="en-IN" sz="3200" dirty="0">
                <a:solidFill>
                  <a:schemeClr val="bg1"/>
                </a:solidFill>
              </a:rPr>
              <a:t>PIN is verified with the bank server.</a:t>
            </a:r>
          </a:p>
          <a:p>
            <a:pPr marL="342900" indent="-342900">
              <a:buAutoNum type="arabicPeriod" startAt="5"/>
            </a:pPr>
            <a:r>
              <a:rPr lang="en-IN" sz="3200" dirty="0">
                <a:solidFill>
                  <a:schemeClr val="bg1"/>
                </a:solidFill>
              </a:rPr>
              <a:t>User selects a transaction (withdrawal, balance enquiry, etc.).</a:t>
            </a:r>
          </a:p>
          <a:p>
            <a:pPr marL="342900" indent="-342900">
              <a:buAutoNum type="arabicPeriod" startAt="5"/>
            </a:pPr>
            <a:r>
              <a:rPr lang="en-IN" sz="3200" dirty="0">
                <a:solidFill>
                  <a:schemeClr val="bg1"/>
                </a:solidFill>
              </a:rPr>
              <a:t> System processes the request and updates the account.</a:t>
            </a:r>
          </a:p>
          <a:p>
            <a:pPr marL="342900" indent="-342900">
              <a:buAutoNum type="arabicPeriod" startAt="5"/>
            </a:pPr>
            <a:r>
              <a:rPr lang="en-IN" sz="3200" dirty="0">
                <a:solidFill>
                  <a:schemeClr val="bg1"/>
                </a:solidFill>
              </a:rPr>
              <a:t> Result is shown on the screen or printed as a receipt.</a:t>
            </a:r>
          </a:p>
        </p:txBody>
      </p:sp>
    </p:spTree>
    <p:extLst>
      <p:ext uri="{BB962C8B-B14F-4D97-AF65-F5344CB8AC3E}">
        <p14:creationId xmlns:p14="http://schemas.microsoft.com/office/powerpoint/2010/main" val="2851825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tx2">
                <a:lumMod val="20000"/>
                <a:lumOff val="80000"/>
              </a:schemeClr>
            </a:gs>
            <a:gs pos="20000">
              <a:schemeClr val="accent1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FC973-153E-C511-7373-80EE51D94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8594"/>
            </a:avLst>
          </a:prstGeom>
          <a:gradFill>
            <a:gsLst>
              <a:gs pos="60000">
                <a:schemeClr val="bg1"/>
              </a:gs>
              <a:gs pos="20000">
                <a:schemeClr val="bg1"/>
              </a:gs>
            </a:gsLst>
            <a:lin ang="5400000" scaled="0"/>
          </a:gra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64FCA6-0241-04E9-CFB8-F7717A80DB98}"/>
              </a:ext>
            </a:extLst>
          </p:cNvPr>
          <p:cNvSpPr txBox="1"/>
          <p:nvPr/>
        </p:nvSpPr>
        <p:spPr>
          <a:xfrm>
            <a:off x="226142" y="147484"/>
            <a:ext cx="1215267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chemeClr val="bg1"/>
                </a:solidFill>
              </a:rPr>
              <a:t>ADVANTAGES OF THE PROPOSED METHODOLOGY</a:t>
            </a:r>
            <a:r>
              <a:rPr lang="en-IN" dirty="0">
                <a:solidFill>
                  <a:schemeClr val="bg1"/>
                </a:solidFill>
              </a:rPr>
              <a:t>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solidFill>
                  <a:schemeClr val="bg1"/>
                </a:solidFill>
              </a:rPr>
              <a:t>24×7 banking </a:t>
            </a:r>
            <a:r>
              <a:rPr lang="en-IN" sz="3200" dirty="0" err="1">
                <a:solidFill>
                  <a:schemeClr val="bg1"/>
                </a:solidFill>
              </a:rPr>
              <a:t>serviceFast</a:t>
            </a:r>
            <a:r>
              <a:rPr lang="en-IN" sz="3200" dirty="0">
                <a:solidFill>
                  <a:schemeClr val="bg1"/>
                </a:solidFill>
              </a:rPr>
              <a:t> and convenient transactions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dirty="0">
                <a:solidFill>
                  <a:schemeClr val="bg1"/>
                </a:solidFill>
              </a:rPr>
              <a:t>2.  Reduces manual work in banks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dirty="0">
                <a:solidFill>
                  <a:schemeClr val="bg1"/>
                </a:solidFill>
              </a:rPr>
              <a:t>3.  Less waiting time for users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dirty="0">
                <a:solidFill>
                  <a:schemeClr val="bg1"/>
                </a:solidFill>
              </a:rPr>
              <a:t>4.   Secure and reliable system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dirty="0">
                <a:solidFill>
                  <a:schemeClr val="bg1"/>
                </a:solidFill>
              </a:rPr>
              <a:t>5.   Accessible even in remote areas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70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9CECCA-EFD4-A662-67E7-0668D08734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4CDBDF-CC97-C571-467F-BDA4C2E992EB}"/>
              </a:ext>
            </a:extLst>
          </p:cNvPr>
          <p:cNvSpPr txBox="1"/>
          <p:nvPr/>
        </p:nvSpPr>
        <p:spPr>
          <a:xfrm>
            <a:off x="363795" y="1347020"/>
            <a:ext cx="1194619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IN" sz="4800" dirty="0">
                <a:solidFill>
                  <a:schemeClr val="bg1"/>
                </a:solidFill>
              </a:rPr>
              <a:t>Architecture of proposed methodology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Input Devices: Card reader, keypad, touch screen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Processing Unit: ATM controller/computer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Output Devices: Display screen, receipt printer, speaker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Cash Mechanism: Cash dispenser, cash deposit slot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</a:rPr>
              <a:t>Secure Network: Connects to bank server via encrypted </a:t>
            </a:r>
            <a:r>
              <a:rPr lang="en-IN" sz="3200" dirty="0"/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35062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93502-92E9-01DC-17C0-D95093D2E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EEDA7E-E7F0-CEC4-180F-99F870DD13AE}"/>
                  </a:ext>
                </a:extLst>
              </p14:cNvPr>
              <p14:cNvContentPartPr/>
              <p14:nvPr/>
            </p14:nvContentPartPr>
            <p14:xfrm>
              <a:off x="933925" y="18634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EEDA7E-E7F0-CEC4-180F-99F870DD13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7805" y="1802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0AAB24-7DA1-3FB2-1C36-C6DD1A076E92}"/>
                  </a:ext>
                </a:extLst>
              </p14:cNvPr>
              <p14:cNvContentPartPr/>
              <p14:nvPr/>
            </p14:nvContentPartPr>
            <p14:xfrm>
              <a:off x="12634285" y="66874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0AAB24-7DA1-3FB2-1C36-C6DD1A076E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28165" y="662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0722B5-8E67-8142-1212-E1CA849B5864}"/>
                  </a:ext>
                </a:extLst>
              </p14:cNvPr>
              <p14:cNvContentPartPr/>
              <p14:nvPr/>
            </p14:nvContentPartPr>
            <p14:xfrm>
              <a:off x="2683885" y="148426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80722B5-8E67-8142-1212-E1CA849B58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7765" y="147814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E1AAC42-E6D8-0EB4-FA7D-A9212EE7D97F}"/>
              </a:ext>
            </a:extLst>
          </p:cNvPr>
          <p:cNvSpPr txBox="1"/>
          <p:nvPr/>
        </p:nvSpPr>
        <p:spPr>
          <a:xfrm>
            <a:off x="3112754" y="375066"/>
            <a:ext cx="8194703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RESULT (ATM Machine </a:t>
            </a:r>
            <a:r>
              <a:rPr lang="en-IN" sz="4400" dirty="0">
                <a:solidFill>
                  <a:schemeClr val="bg1"/>
                </a:solidFill>
              </a:rPr>
              <a:t>Output)</a:t>
            </a:r>
          </a:p>
          <a:p>
            <a:r>
              <a:rPr lang="en-IN" sz="2400" dirty="0">
                <a:solidFill>
                  <a:schemeClr val="bg1"/>
                </a:solidFill>
              </a:rPr>
              <a:t>ATM Receipt – Sample Output</a:t>
            </a:r>
          </a:p>
          <a:p>
            <a:r>
              <a:rPr lang="en-IN" sz="2400" dirty="0">
                <a:solidFill>
                  <a:schemeClr val="bg1"/>
                </a:solidFill>
              </a:rPr>
              <a:t>Bank Name: SBI Bank</a:t>
            </a:r>
          </a:p>
          <a:p>
            <a:r>
              <a:rPr lang="en-IN" sz="2400" dirty="0">
                <a:solidFill>
                  <a:schemeClr val="bg1"/>
                </a:solidFill>
              </a:rPr>
              <a:t>ATM ID: ATM1023</a:t>
            </a:r>
          </a:p>
          <a:p>
            <a:r>
              <a:rPr lang="en-IN" sz="2400" dirty="0">
                <a:solidFill>
                  <a:schemeClr val="bg1"/>
                </a:solidFill>
              </a:rPr>
              <a:t>Date: 03-12-2025</a:t>
            </a:r>
          </a:p>
          <a:p>
            <a:r>
              <a:rPr lang="en-IN" sz="2400" dirty="0">
                <a:solidFill>
                  <a:schemeClr val="bg1"/>
                </a:solidFill>
              </a:rPr>
              <a:t>Time: 10:42 AM</a:t>
            </a:r>
          </a:p>
          <a:p>
            <a:r>
              <a:rPr lang="en-IN" sz="2400" dirty="0">
                <a:solidFill>
                  <a:schemeClr val="bg1"/>
                </a:solidFill>
              </a:rPr>
              <a:t>Card Holder </a:t>
            </a:r>
            <a:r>
              <a:rPr lang="en-IN" sz="2400" dirty="0" err="1">
                <a:solidFill>
                  <a:schemeClr val="bg1"/>
                </a:solidFill>
              </a:rPr>
              <a:t>Name:Vandana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Account Number: XXXX 4523</a:t>
            </a:r>
          </a:p>
          <a:p>
            <a:r>
              <a:rPr lang="en-IN" sz="2400" dirty="0">
                <a:solidFill>
                  <a:schemeClr val="bg1"/>
                </a:solidFill>
              </a:rPr>
              <a:t>Transaction Type: Cash Withdrawal</a:t>
            </a:r>
          </a:p>
          <a:p>
            <a:r>
              <a:rPr lang="en-IN" sz="2400" dirty="0">
                <a:solidFill>
                  <a:schemeClr val="bg1"/>
                </a:solidFill>
              </a:rPr>
              <a:t>Amount Withdrawn: ₹2,000</a:t>
            </a:r>
          </a:p>
          <a:p>
            <a:r>
              <a:rPr lang="en-IN" sz="2400" dirty="0">
                <a:solidFill>
                  <a:schemeClr val="bg1"/>
                </a:solidFill>
              </a:rPr>
              <a:t>Available Balance: ₹18,450</a:t>
            </a:r>
          </a:p>
          <a:p>
            <a:r>
              <a:rPr lang="en-IN" sz="2400" dirty="0">
                <a:solidFill>
                  <a:schemeClr val="bg1"/>
                </a:solidFill>
              </a:rPr>
              <a:t>Transaction Status: SUCCESS</a:t>
            </a:r>
          </a:p>
          <a:p>
            <a:r>
              <a:rPr lang="en-IN" sz="2400" dirty="0">
                <a:solidFill>
                  <a:schemeClr val="bg1"/>
                </a:solidFill>
              </a:rPr>
              <a:t>Reference No: 7845129630</a:t>
            </a:r>
          </a:p>
          <a:p>
            <a:r>
              <a:rPr lang="en-IN" sz="2400" dirty="0">
                <a:solidFill>
                  <a:schemeClr val="bg1"/>
                </a:solidFill>
              </a:rPr>
              <a:t>Thank you for using SBI ATM!</a:t>
            </a:r>
          </a:p>
        </p:txBody>
      </p:sp>
    </p:spTree>
    <p:extLst>
      <p:ext uri="{BB962C8B-B14F-4D97-AF65-F5344CB8AC3E}">
        <p14:creationId xmlns:p14="http://schemas.microsoft.com/office/powerpoint/2010/main" val="1328586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3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C3B693-C649-89B4-3167-9E0B0EBABD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0050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ECD84E-CEFD-E093-8387-2FE7E7B20D02}"/>
              </a:ext>
            </a:extLst>
          </p:cNvPr>
          <p:cNvSpPr txBox="1"/>
          <p:nvPr/>
        </p:nvSpPr>
        <p:spPr>
          <a:xfrm>
            <a:off x="405114" y="1400537"/>
            <a:ext cx="11169569" cy="5509200"/>
          </a:xfrm>
          <a:prstGeom prst="rect">
            <a:avLst/>
          </a:prstGeom>
          <a:blipFill dpi="0" rotWithShape="1">
            <a:blip r:embed="rId3">
              <a:alphaModFix amt="2000"/>
            </a:blip>
            <a:srcRect/>
            <a:stretch>
              <a:fillRect/>
            </a:stretch>
          </a:blipFill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>
                <a:solidFill>
                  <a:schemeClr val="bg1"/>
                </a:solidFill>
              </a:rPr>
              <a:t>Provides 24/7 access to banking services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>
                <a:solidFill>
                  <a:schemeClr val="bg1"/>
                </a:solidFill>
              </a:rPr>
              <a:t> Enables cash withdrawal, balance inquiry, and fund transfers 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>
                <a:solidFill>
                  <a:schemeClr val="bg1"/>
                </a:solidFill>
              </a:rPr>
              <a:t>Ensures security through PIN authentication.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>
                <a:solidFill>
                  <a:schemeClr val="bg1"/>
                </a:solidFill>
              </a:rPr>
              <a:t>Saves time and reduces the need to visit banks.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dirty="0">
                <a:solidFill>
                  <a:schemeClr val="bg1"/>
                </a:solidFill>
              </a:rPr>
              <a:t>Makes banking faster, easier, and user-friendly.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BEAD29A-3802-4E7D-2606-7598EBE1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57250" indent="-857250">
              <a:buFont typeface="Wingdings" panose="05000000000000000000" pitchFamily="2" charset="2"/>
              <a:buChar char="q"/>
            </a:pPr>
            <a:r>
              <a:rPr lang="en-US" sz="6600" b="1" dirty="0">
                <a:solidFill>
                  <a:schemeClr val="bg1"/>
                </a:solidFill>
              </a:rPr>
              <a:t>CONCLUSION</a:t>
            </a:r>
            <a:endParaRPr lang="en-IN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32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03EA-41DE-292B-198F-D3976702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3F81-ACBC-E1E3-1820-5B2401095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49661"/>
            <a:ext cx="9144000" cy="246540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Any Queries:</a:t>
            </a: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You!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C86B0-F373-4588-D092-B3ACCCA63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80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2951</TotalTime>
  <Words>602</Words>
  <Application>Microsoft Office PowerPoint</Application>
  <PresentationFormat>Widescreen</PresentationFormat>
  <Paragraphs>106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Wingdings</vt:lpstr>
      <vt:lpstr>Office Theme</vt:lpstr>
      <vt:lpstr>AUTOMATED TELLER                        MACHINE(ATM)</vt:lpstr>
      <vt:lpstr>PowerPoint Presentation</vt:lpstr>
      <vt:lpstr>PowerPoint Presentation</vt:lpstr>
      <vt:lpstr>    INTRODUCTION OF ATM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Any Queries: Thank You! 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sivananda2097@outlook.com</dc:creator>
  <cp:lastModifiedBy>srinivas Patnam</cp:lastModifiedBy>
  <cp:revision>9</cp:revision>
  <dcterms:created xsi:type="dcterms:W3CDTF">2025-11-25T11:19:42Z</dcterms:created>
  <dcterms:modified xsi:type="dcterms:W3CDTF">2025-12-15T15:03:06Z</dcterms:modified>
</cp:coreProperties>
</file>